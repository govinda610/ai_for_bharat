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4"/>
  </p:normalViewPr>
  <p:slideViewPr>
    <p:cSldViewPr snapToGrid="0">
      <p:cViewPr varScale="1">
        <p:scale>
          <a:sx n="165" d="100"/>
          <a:sy n="165" d="100"/>
        </p:scale>
        <p:origin x="312" y="1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6c7e62156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b6c7e62156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6c7e62156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6c7e62156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6c7e62156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b6c7e62156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b6c7e62156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b6c7e62156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6c7e62156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6c7e62156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b6c7e62156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b6c7e62156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b6c7e62156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b6c7e62156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b6c7e62156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b6c7e62156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b6c7e62156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b6c7e62156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b6c7e62156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b6c7e62156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Artscfghgboard – 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TextBox 54"/>
          <p:cNvSpPr txBox="1"/>
          <p:nvPr/>
        </p:nvSpPr>
        <p:spPr>
          <a:xfrm>
            <a:off x="384048" y="3447288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33333"/>
                </a:solidFill>
              </a:rPr>
              <a:t>Team Name:  SarvaSukh AI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84048" y="3858768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Team Leader Name:  Govind Mittal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84048" y="4297680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Problem Statement:  AI for Healthcare &amp; Life Sciences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TextBox 62"/>
          <p:cNvSpPr txBox="1"/>
          <p:nvPr/>
        </p:nvSpPr>
        <p:spPr>
          <a:xfrm>
            <a:off x="310896" y="54864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5276"/>
                </a:solidFill>
              </a:rPr>
              <a:t>Brief about the Idea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10896" y="1005840"/>
            <a:ext cx="8229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67E22"/>
                </a:solidFill>
              </a:rPr>
              <a:t>The Problem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</a:rPr>
              <a:t>India's 1 million ASHA workers serve 845 million rural citizens but spend 3-4 hours/day (40% of work time) on manual data entry across 11-15 paper registers and complex digital forms.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7F8C8D"/>
                </a:solidFill>
              </a:rPr>
              <a:t>• 48% struggle with app navigation  •  &gt;20% data error rates  •  Most areas have 2G/no internet</a:t>
            </a:r>
          </a:p>
          <a:p>
            <a:pPr algn="l"/>
            <a:r>
              <a:rPr sz="1400" b="1">
                <a:solidFill>
                  <a:srgbClr val="E67E22"/>
                </a:solidFill>
              </a:rPr>
              <a:t>Our Solution: SarvaSukh AI — Voice-First AI Health Platform</a:t>
            </a:r>
          </a:p>
          <a:p>
            <a:pPr algn="l"/>
            <a:r>
              <a:rPr sz="1100" b="0">
                <a:solidFill>
                  <a:srgbClr val="333333"/>
                </a:solidFill>
              </a:rPr>
              <a:t>• ASHA speaks in any Indian dialect → AI auto-fills all forms (7 min → 45 sec)</a:t>
            </a:r>
          </a:p>
          <a:p>
            <a:pPr algn="l"/>
            <a:r>
              <a:rPr sz="1100" b="0">
                <a:solidFill>
                  <a:srgbClr val="333333"/>
                </a:solidFill>
              </a:rPr>
              <a:t>• Real-time clinical triage: flags pre-eclampsia, anemia, malnutrition via WHO rules</a:t>
            </a:r>
          </a:p>
          <a:p>
            <a:pPr algn="l"/>
            <a:r>
              <a:rPr sz="1100" b="0">
                <a:solidFill>
                  <a:srgbClr val="333333"/>
                </a:solidFill>
              </a:rPr>
              <a:t>• Offline-capable: on-device AI works without internet</a:t>
            </a:r>
          </a:p>
          <a:p>
            <a:pPr algn="l"/>
            <a:r>
              <a:rPr sz="1100" b="0">
                <a:solidFill>
                  <a:srgbClr val="333333"/>
                </a:solidFill>
              </a:rPr>
              <a:t>• 22 Indian languages via Sarvam AI's Indic-native ASR/TTS</a:t>
            </a:r>
          </a:p>
          <a:p>
            <a:pPr algn="l"/>
            <a:r>
              <a:rPr sz="1100" b="0">
                <a:solidFill>
                  <a:srgbClr val="333333"/>
                </a:solidFill>
              </a:rPr>
              <a:t>• Builds national health data lake for disease surveillance &amp; pandemic tracking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333333"/>
                </a:solidFill>
              </a:rPr>
              <a:t>• Unique Patient ID tracks health history across all visits and centers</a:t>
            </a:r>
          </a:p>
          <a:p>
            <a:pPr algn="l"/>
            <a:r>
              <a:rPr sz="1300" b="1">
                <a:solidFill>
                  <a:srgbClr val="27AE60"/>
                </a:solidFill>
              </a:rPr>
              <a:t>Impact: Returns 3 million healthcare hours to rural India every day.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5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TextBox 68"/>
          <p:cNvSpPr txBox="1"/>
          <p:nvPr/>
        </p:nvSpPr>
        <p:spPr>
          <a:xfrm>
            <a:off x="310896" y="54864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5276"/>
                </a:solidFill>
              </a:rPr>
              <a:t>How is SarvaSukh AI Different?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10896" y="1005840"/>
            <a:ext cx="39319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7E22"/>
                </a:solidFill>
              </a:rPr>
              <a:t>1. Offline-Capable Edge AI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333333"/>
                </a:solidFill>
              </a:rPr>
              <a:t>On-device Qwen 3 / Gemma 3 (quantized) works on $80 phones in zero-connectivity villages. Cloud AI used when available.</a:t>
            </a:r>
          </a:p>
          <a:p>
            <a:pPr algn="l"/>
            <a:r>
              <a:rPr sz="1200" b="1">
                <a:solidFill>
                  <a:srgbClr val="E67E22"/>
                </a:solidFill>
              </a:rPr>
              <a:t>2. Multi-Agent, Not Chatbot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333333"/>
                </a:solidFill>
              </a:rPr>
              <a:t>5 specialized agents with deterministic clinical guardrails. AI never prescribes — only flags risks per WHO guidelines.</a:t>
            </a:r>
          </a:p>
          <a:p>
            <a:pPr algn="l"/>
            <a:r>
              <a:rPr sz="1200" b="1">
                <a:solidFill>
                  <a:srgbClr val="E67E22"/>
                </a:solidFill>
              </a:rPr>
              <a:t>3. Indic-Native AI</a:t>
            </a:r>
          </a:p>
          <a:p>
            <a:pPr algn="l"/>
            <a:r>
              <a:rPr sz="1000" b="0">
                <a:solidFill>
                  <a:srgbClr val="333333"/>
                </a:solidFill>
              </a:rPr>
              <a:t>Built on Sarvam AI Saaras V3 (22 languages). Understands code-mixing &amp; dialects. Not a translated Western model.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572000" y="1005840"/>
            <a:ext cx="4206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7E22"/>
                </a:solidFill>
              </a:rPr>
              <a:t>4. National Health Platform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333333"/>
                </a:solidFill>
              </a:rPr>
              <a:t>Aggregates anonymized grassroots data into FHIR-compliant health data lake. Feeds IDSP surveillance &amp; pandemic tracking.</a:t>
            </a:r>
          </a:p>
          <a:p>
            <a:pPr algn="l"/>
            <a:r>
              <a:rPr sz="1200" b="1">
                <a:solidFill>
                  <a:srgbClr val="E67E22"/>
                </a:solidFill>
              </a:rPr>
              <a:t>5. Integration, Not Replacement</a:t>
            </a:r>
          </a:p>
          <a:p>
            <a:pPr algn="l">
              <a:spcAft>
                <a:spcPts val="800"/>
              </a:spcAft>
            </a:pPr>
            <a:r>
              <a:rPr sz="1000" b="0">
                <a:solidFill>
                  <a:srgbClr val="333333"/>
                </a:solidFill>
              </a:rPr>
              <a:t>Voice overlay on existing govt apps (ANMOL, RCH, NCD). Zero learning curve for new apps.</a:t>
            </a:r>
          </a:p>
          <a:p>
            <a:pPr algn="l"/>
            <a:r>
              <a:rPr sz="1200" b="1">
                <a:solidFill>
                  <a:srgbClr val="1A5276"/>
                </a:solidFill>
              </a:rPr>
              <a:t>USP Summary</a:t>
            </a:r>
          </a:p>
          <a:p>
            <a:pPr algn="l"/>
            <a:r>
              <a:rPr sz="1000" b="1">
                <a:solidFill>
                  <a:srgbClr val="333333"/>
                </a:solidFill>
              </a:rPr>
              <a:t>The only platform combining offline edge AI + clinical safety guardrails + national health intelligence in a single voice-native system designed for India's frontline workers.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6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TextBox 74"/>
          <p:cNvSpPr txBox="1"/>
          <p:nvPr/>
        </p:nvSpPr>
        <p:spPr>
          <a:xfrm>
            <a:off x="310896" y="54864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5276"/>
                </a:solidFill>
              </a:rPr>
              <a:t>Key Features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10896" y="1005840"/>
            <a:ext cx="39319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7E22"/>
                </a:solidFill>
              </a:rPr>
              <a:t>Voice-to-Record (Lekhak Agent)</a:t>
            </a:r>
          </a:p>
          <a:p>
            <a:pPr algn="l"/>
            <a:r>
              <a:rPr sz="1000" b="0">
                <a:solidFill>
                  <a:srgbClr val="333333"/>
                </a:solidFill>
              </a:rPr>
              <a:t>Speak in any dialect → structured JSON → auto-fill forms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7F8C8D"/>
                </a:solidFill>
              </a:rPr>
              <a:t>Accuracy &gt;95%  |  Latency &lt;5 sec</a:t>
            </a:r>
          </a:p>
          <a:p>
            <a:pPr algn="l"/>
            <a:r>
              <a:rPr sz="1200" b="1">
                <a:solidFill>
                  <a:srgbClr val="E67E22"/>
                </a:solidFill>
              </a:rPr>
              <a:t>Clinical Triage (Rakshak Agent)</a:t>
            </a:r>
          </a:p>
          <a:p>
            <a:pPr algn="l"/>
            <a:r>
              <a:rPr sz="1000" b="0">
                <a:solidFill>
                  <a:srgbClr val="333333"/>
                </a:solidFill>
              </a:rPr>
              <a:t>Deterministic WHO/Ayushman Bharat rules flag risks: Pre-eclampsia, SAM, Severe Anemia, TB, etc.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C0392B"/>
                </a:solidFill>
              </a:rPr>
              <a:t>Screen color change + audio alert + auto referral slip</a:t>
            </a:r>
          </a:p>
          <a:p>
            <a:pPr algn="l"/>
            <a:r>
              <a:rPr sz="1200" b="1">
                <a:solidFill>
                  <a:srgbClr val="E67E22"/>
                </a:solidFill>
              </a:rPr>
              <a:t>Offline-Capable Architecture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333333"/>
                </a:solidFill>
              </a:rPr>
              <a:t>On-device ASR + NER + Rule Engine. SQLite local storage. Background sync when online.</a:t>
            </a:r>
          </a:p>
          <a:p>
            <a:pPr algn="l"/>
            <a:r>
              <a:rPr sz="1200" b="1">
                <a:solidFill>
                  <a:srgbClr val="E67E22"/>
                </a:solidFill>
              </a:rPr>
              <a:t>22-Language Support</a:t>
            </a:r>
          </a:p>
          <a:p>
            <a:pPr algn="l"/>
            <a:r>
              <a:rPr sz="1000" b="0">
                <a:solidFill>
                  <a:srgbClr val="333333"/>
                </a:solidFill>
              </a:rPr>
              <a:t>Sarvam Saaras V3 ASR + Bulbul V3 TTS. Auto-language detection, code-mixing support.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572000" y="1005840"/>
            <a:ext cx="4206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7E22"/>
                </a:solidFill>
              </a:rPr>
              <a:t>Vision &amp; OCR (Darshak Agent)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333333"/>
                </a:solidFill>
              </a:rPr>
              <a:t>Scan prescriptions, X-rays, lab reports. Health record digitization.</a:t>
            </a:r>
          </a:p>
          <a:p>
            <a:pPr algn="l"/>
            <a:r>
              <a:rPr sz="1200" b="1">
                <a:solidFill>
                  <a:srgbClr val="E67E22"/>
                </a:solidFill>
              </a:rPr>
              <a:t>PHC Dashboard &amp; Surveillance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333333"/>
                </a:solidFill>
              </a:rPr>
              <a:t>Real-time high-risk patient lists for doctors. Automated IDSP outbreak detection.</a:t>
            </a:r>
          </a:p>
          <a:p>
            <a:pPr algn="l"/>
            <a:r>
              <a:rPr sz="1200" b="1">
                <a:solidFill>
                  <a:srgbClr val="E67E22"/>
                </a:solidFill>
              </a:rPr>
              <a:t>Health Forecasting (TimesFM)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333333"/>
                </a:solidFill>
              </a:rPr>
              <a:t>Disease outbreak prediction. Resource demand and medicine stock-out forecasting.</a:t>
            </a:r>
          </a:p>
          <a:p>
            <a:pPr algn="l"/>
            <a:r>
              <a:rPr sz="1200" b="1">
                <a:solidFill>
                  <a:srgbClr val="E67E22"/>
                </a:solidFill>
              </a:rPr>
              <a:t>Patient Continuum of Care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333333"/>
                </a:solidFill>
              </a:rPr>
              <a:t>Unique ID / ABHA linked records. Complete health history across all visits and centers.</a:t>
            </a:r>
          </a:p>
          <a:p>
            <a:pPr algn="l"/>
            <a:r>
              <a:rPr sz="1200" b="1">
                <a:solidFill>
                  <a:srgbClr val="E67E22"/>
                </a:solidFill>
              </a:rPr>
              <a:t>Government App Integration</a:t>
            </a:r>
          </a:p>
          <a:p>
            <a:pPr algn="l"/>
            <a:r>
              <a:rPr sz="1000" b="0">
                <a:solidFill>
                  <a:srgbClr val="333333"/>
                </a:solidFill>
              </a:rPr>
              <a:t>Voice overlay on ANMOL, RCH, NCD apps. No new app to learn.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7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TextBox 80"/>
          <p:cNvSpPr txBox="1"/>
          <p:nvPr/>
        </p:nvSpPr>
        <p:spPr>
          <a:xfrm>
            <a:off x="310896" y="54864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5276"/>
                </a:solidFill>
              </a:rPr>
              <a:t>Process Flow: Voice → Health Intelligence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10896" y="100584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5276"/>
                </a:solidFill>
              </a:rPr>
              <a:t>EDGE LAYER (On-Device — Works Offline)</a:t>
            </a:r>
          </a:p>
          <a:p>
            <a:pPr algn="l"/>
            <a:r>
              <a:rPr sz="1000" b="0">
                <a:solidFill>
                  <a:srgbClr val="333333"/>
                </a:solidFill>
              </a:rPr>
              <a:t>1. ASHA speaks → Sravana Agent (Sarvam ASR, 22 languages)</a:t>
            </a:r>
          </a:p>
          <a:p>
            <a:pPr algn="l"/>
            <a:r>
              <a:rPr sz="1000" b="0">
                <a:solidFill>
                  <a:srgbClr val="333333"/>
                </a:solidFill>
              </a:rPr>
              <a:t>2. Lekhak Agent (Qwen 3 NER) extracts structured JSON from speech</a:t>
            </a:r>
          </a:p>
          <a:p>
            <a:pPr algn="l"/>
            <a:r>
              <a:rPr sz="1000" b="0">
                <a:solidFill>
                  <a:srgbClr val="333333"/>
                </a:solidFill>
              </a:rPr>
              <a:t>3. Rakshak Agent applies WHO/AB clinical triage rules</a:t>
            </a:r>
          </a:p>
          <a:p>
            <a:pPr algn="l"/>
            <a:r>
              <a:rPr sz="1000" b="0">
                <a:solidFill>
                  <a:srgbClr val="333333"/>
                </a:solidFill>
              </a:rPr>
              <a:t>4. Data saved to SQLite (local storage, works offline)</a:t>
            </a:r>
          </a:p>
          <a:p>
            <a:pPr algn="l"/>
            <a:r>
              <a:rPr sz="1000" b="0">
                <a:solidFill>
                  <a:srgbClr val="7F8C8D"/>
                </a:solidFill>
              </a:rPr>
              <a:t>Darshak Agent (Vision/OCR) scans prescriptions &amp; lab reports</a:t>
            </a:r>
          </a:p>
          <a:p>
            <a:pPr algn="l"/>
            <a:r>
              <a:rPr sz="1000" b="1">
                <a:solidFill>
                  <a:srgbClr val="C0392B"/>
                </a:solidFill>
              </a:rPr>
              <a:t>If risk detected → Screen turns RED + Audio alert + Auto referral slip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286000" y="23774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E67E22"/>
                </a:solidFill>
              </a:rPr>
              <a:t>▼  Doot Agent (Background Sync, Exponential Backoff)  ▼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10896" y="2743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5276"/>
                </a:solidFill>
              </a:rPr>
              <a:t>CLOUD LAYER (AWS Mumbai — ap-south-1)</a:t>
            </a:r>
          </a:p>
          <a:p>
            <a:pPr algn="l"/>
            <a:r>
              <a:rPr sz="1000" b="0">
                <a:solidFill>
                  <a:srgbClr val="333333"/>
                </a:solidFill>
              </a:rPr>
              <a:t>API Gateway + Cognito → Lambda (FastAPI) + Bedrock (Claude 4.5)</a:t>
            </a:r>
          </a:p>
          <a:p>
            <a:pPr algn="l"/>
            <a:r>
              <a:rPr sz="1000" b="0">
                <a:solidFill>
                  <a:srgbClr val="333333"/>
                </a:solidFill>
              </a:rPr>
              <a:t>DynamoDB + HealthLake (FHIR R4) + S3 → ABDM/ABHA Sync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286000" y="37033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E67E22"/>
                </a:solidFill>
              </a:rPr>
              <a:t>▼  Data Aggregation &amp; Analytics  ▼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10896" y="402336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5276"/>
                </a:solidFill>
              </a:rPr>
              <a:t>INTELLIGENCE LAYER</a:t>
            </a:r>
          </a:p>
          <a:p>
            <a:pPr algn="l"/>
            <a:r>
              <a:rPr sz="1000" b="0">
                <a:solidFill>
                  <a:srgbClr val="333333"/>
                </a:solidFill>
              </a:rPr>
              <a:t>QuickSight Dashboards → PHC Medical Officer  |  TimesFM → Outbreak Prediction</a:t>
            </a:r>
          </a:p>
          <a:p>
            <a:pPr algn="l"/>
            <a:r>
              <a:rPr sz="1000" b="0">
                <a:solidFill>
                  <a:srgbClr val="333333"/>
                </a:solidFill>
              </a:rPr>
              <a:t>IDSP Surveillance → Automated Alerts (Village → District → State)  |  Research Platform → ICMR/WHO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8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TextBox 86"/>
          <p:cNvSpPr txBox="1"/>
          <p:nvPr/>
        </p:nvSpPr>
        <p:spPr>
          <a:xfrm>
            <a:off x="310896" y="54864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5276"/>
                </a:solidFill>
              </a:rPr>
              <a:t>UX Design — Voice-First, Zero-Typing Interface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10896" y="1051560"/>
            <a:ext cx="1965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67E22"/>
                </a:solidFill>
              </a:rPr>
              <a:t>Home Screen</a:t>
            </a:r>
          </a:p>
          <a:p>
            <a:pPr algn="l"/>
            <a:endParaRPr sz="1100" b="1">
              <a:solidFill>
                <a:srgbClr val="E67E22"/>
              </a:solidFill>
            </a:endParaRPr>
          </a:p>
          <a:p>
            <a:pPr algn="l"/>
            <a:r>
              <a:rPr sz="1000" b="0">
                <a:solidFill>
                  <a:srgbClr val="333333"/>
                </a:solidFill>
              </a:rPr>
              <a:t>• Large pulsing mic button</a:t>
            </a:r>
          </a:p>
          <a:p>
            <a:pPr algn="l"/>
            <a:r>
              <a:rPr sz="1000" b="0">
                <a:solidFill>
                  <a:srgbClr val="333333"/>
                </a:solidFill>
              </a:rPr>
              <a:t>• Label: "बोलिये" (Speak)</a:t>
            </a:r>
          </a:p>
          <a:p>
            <a:pPr algn="l"/>
            <a:r>
              <a:rPr sz="1000" b="0">
                <a:solidFill>
                  <a:srgbClr val="333333"/>
                </a:solidFill>
              </a:rPr>
              <a:t>• Offline/Online status</a:t>
            </a:r>
          </a:p>
          <a:p>
            <a:pPr algn="l"/>
            <a:r>
              <a:rPr sz="1000" b="0">
                <a:solidFill>
                  <a:srgbClr val="333333"/>
                </a:solidFill>
              </a:rPr>
              <a:t>• High contrast, large fonts</a:t>
            </a:r>
          </a:p>
          <a:p>
            <a:pPr algn="l"/>
            <a:r>
              <a:rPr sz="1000" b="0">
                <a:solidFill>
                  <a:srgbClr val="333333"/>
                </a:solidFill>
              </a:rPr>
              <a:t>• Minimal text, voice-first</a:t>
            </a:r>
          </a:p>
          <a:p>
            <a:pPr algn="l"/>
            <a:endParaRPr sz="1000" b="0">
              <a:solidFill>
                <a:srgbClr val="333333"/>
              </a:solidFill>
            </a:endParaRPr>
          </a:p>
          <a:p>
            <a:pPr algn="l"/>
            <a:r>
              <a:rPr sz="1000" b="0">
                <a:solidFill>
                  <a:srgbClr val="7F8C8D"/>
                </a:solidFill>
              </a:rPr>
              <a:t>Design: Big button, zero typing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441448" y="1051560"/>
            <a:ext cx="1965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67E22"/>
                </a:solidFill>
              </a:rPr>
              <a:t>Voice Form Fill</a:t>
            </a:r>
          </a:p>
          <a:p>
            <a:pPr algn="l"/>
            <a:endParaRPr sz="1100" b="1">
              <a:solidFill>
                <a:srgbClr val="E67E22"/>
              </a:solidFill>
            </a:endParaRPr>
          </a:p>
          <a:p>
            <a:pPr algn="l"/>
            <a:r>
              <a:rPr sz="1000" b="0">
                <a:solidFill>
                  <a:srgbClr val="333333"/>
                </a:solidFill>
              </a:rPr>
              <a:t>• Listening animation active</a:t>
            </a:r>
          </a:p>
          <a:p>
            <a:pPr algn="l"/>
            <a:r>
              <a:rPr sz="1000" b="0">
                <a:solidFill>
                  <a:srgbClr val="333333"/>
                </a:solidFill>
              </a:rPr>
              <a:t>• Fields auto-fill from voice</a:t>
            </a:r>
          </a:p>
          <a:p>
            <a:pPr algn="l"/>
            <a:r>
              <a:rPr sz="1000" b="0">
                <a:solidFill>
                  <a:srgbClr val="333333"/>
                </a:solidFill>
              </a:rPr>
              <a:t>• Name, BP, Symptoms shown</a:t>
            </a:r>
          </a:p>
          <a:p>
            <a:pPr algn="l"/>
            <a:r>
              <a:rPr sz="1000" b="0">
                <a:solidFill>
                  <a:srgbClr val="333333"/>
                </a:solidFill>
              </a:rPr>
              <a:t>• TTS confirmation:</a:t>
            </a:r>
          </a:p>
          <a:p>
            <a:pPr algn="l"/>
            <a:r>
              <a:rPr sz="1000" b="0">
                <a:solidFill>
                  <a:srgbClr val="333333"/>
                </a:solidFill>
              </a:rPr>
              <a:t>  "Sahi hai?" (Correct?)</a:t>
            </a:r>
          </a:p>
          <a:p>
            <a:pPr algn="l"/>
            <a:endParaRPr sz="1000" b="0">
              <a:solidFill>
                <a:srgbClr val="333333"/>
              </a:solidFill>
            </a:endParaRPr>
          </a:p>
          <a:p>
            <a:pPr algn="l"/>
            <a:r>
              <a:rPr sz="1000" b="0">
                <a:solidFill>
                  <a:srgbClr val="7F8C8D"/>
                </a:solidFill>
              </a:rPr>
              <a:t>Design: Conversational flow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72000" y="1051560"/>
            <a:ext cx="1965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0392B"/>
                </a:solidFill>
              </a:rPr>
              <a:t>Risk Alert</a:t>
            </a:r>
          </a:p>
          <a:p>
            <a:pPr algn="l"/>
            <a:endParaRPr sz="1100" b="1">
              <a:solidFill>
                <a:srgbClr val="C0392B"/>
              </a:solidFill>
            </a:endParaRPr>
          </a:p>
          <a:p>
            <a:pPr algn="l"/>
            <a:r>
              <a:rPr sz="1000" b="0">
                <a:solidFill>
                  <a:srgbClr val="333333"/>
                </a:solidFill>
              </a:rPr>
              <a:t>• Full-screen RED alert</a:t>
            </a:r>
          </a:p>
          <a:p>
            <a:pPr algn="l"/>
            <a:r>
              <a:rPr sz="1000" b="0">
                <a:solidFill>
                  <a:srgbClr val="333333"/>
                </a:solidFill>
              </a:rPr>
              <a:t>• Audio siren in Hindi</a:t>
            </a:r>
          </a:p>
          <a:p>
            <a:pPr algn="l"/>
            <a:r>
              <a:rPr sz="1000" b="0">
                <a:solidFill>
                  <a:srgbClr val="C0392B"/>
                </a:solidFill>
              </a:rPr>
              <a:t>• Pre-eclampsia Risk</a:t>
            </a:r>
          </a:p>
          <a:p>
            <a:pPr algn="l"/>
            <a:r>
              <a:rPr sz="1000" b="0">
                <a:solidFill>
                  <a:srgbClr val="333333"/>
                </a:solidFill>
              </a:rPr>
              <a:t>• BP 150/90, 7mo pregnant</a:t>
            </a:r>
          </a:p>
          <a:p>
            <a:pPr algn="l"/>
            <a:r>
              <a:rPr sz="1000" b="0">
                <a:solidFill>
                  <a:srgbClr val="333333"/>
                </a:solidFill>
              </a:rPr>
              <a:t>• Auto-generated referral</a:t>
            </a:r>
          </a:p>
          <a:p>
            <a:pPr algn="l"/>
            <a:endParaRPr sz="1000" b="0">
              <a:solidFill>
                <a:srgbClr val="333333"/>
              </a:solidFill>
            </a:endParaRPr>
          </a:p>
          <a:p>
            <a:pPr algn="l"/>
            <a:r>
              <a:rPr sz="1000" b="0">
                <a:solidFill>
                  <a:srgbClr val="7F8C8D"/>
                </a:solidFill>
              </a:rPr>
              <a:t>Design: Cannot be missed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702552" y="1051560"/>
            <a:ext cx="1965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67E22"/>
                </a:solidFill>
              </a:rPr>
              <a:t>Patient History</a:t>
            </a:r>
          </a:p>
          <a:p>
            <a:pPr algn="l"/>
            <a:endParaRPr sz="1100" b="1">
              <a:solidFill>
                <a:srgbClr val="E67E22"/>
              </a:solidFill>
            </a:endParaRPr>
          </a:p>
          <a:p>
            <a:pPr algn="l"/>
            <a:r>
              <a:rPr sz="1000" b="0">
                <a:solidFill>
                  <a:srgbClr val="333333"/>
                </a:solidFill>
              </a:rPr>
              <a:t>• Chat-style timeline</a:t>
            </a:r>
          </a:p>
          <a:p>
            <a:pPr algn="l"/>
            <a:r>
              <a:rPr sz="1000" b="0">
                <a:solidFill>
                  <a:srgbClr val="333333"/>
                </a:solidFill>
              </a:rPr>
              <a:t>• Color-coded visits:</a:t>
            </a:r>
          </a:p>
          <a:p>
            <a:pPr algn="l"/>
            <a:r>
              <a:rPr sz="1000" b="0">
                <a:solidFill>
                  <a:srgbClr val="27AE60"/>
                </a:solidFill>
              </a:rPr>
              <a:t>  Green = Normal</a:t>
            </a:r>
          </a:p>
          <a:p>
            <a:pPr algn="l"/>
            <a:r>
              <a:rPr sz="1000" b="0">
                <a:solidFill>
                  <a:srgbClr val="C0392B"/>
                </a:solidFill>
              </a:rPr>
              <a:t>  Red = Risk flagged</a:t>
            </a:r>
          </a:p>
          <a:p>
            <a:pPr algn="l"/>
            <a:r>
              <a:rPr sz="1000" b="0">
                <a:solidFill>
                  <a:srgbClr val="333333"/>
                </a:solidFill>
              </a:rPr>
              <a:t>• Full history across visits</a:t>
            </a:r>
          </a:p>
          <a:p>
            <a:pPr algn="l"/>
            <a:endParaRPr sz="1000" b="0">
              <a:solidFill>
                <a:srgbClr val="333333"/>
              </a:solidFill>
            </a:endParaRPr>
          </a:p>
          <a:p>
            <a:pPr algn="l"/>
            <a:r>
              <a:rPr sz="1000" b="0">
                <a:solidFill>
                  <a:srgbClr val="7F8C8D"/>
                </a:solidFill>
              </a:rPr>
              <a:t>Design: WhatsApp-like UI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9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TextBox 92"/>
          <p:cNvSpPr txBox="1"/>
          <p:nvPr/>
        </p:nvSpPr>
        <p:spPr>
          <a:xfrm>
            <a:off x="310896" y="54864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5276"/>
                </a:solidFill>
              </a:rPr>
              <a:t>Architecture Diagram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10896" y="10058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5276"/>
                </a:solidFill>
              </a:rPr>
              <a:t>EDGE LAYER (On-Device — Works Offline)</a:t>
            </a:r>
          </a:p>
          <a:p>
            <a:pPr algn="l"/>
            <a:r>
              <a:rPr sz="1000" b="0">
                <a:solidFill>
                  <a:srgbClr val="333333"/>
                </a:solidFill>
              </a:rPr>
              <a:t>• Sravana (Sarvam Saaras V3 / Whisper Tiny) — Speech-to-text</a:t>
            </a:r>
          </a:p>
          <a:p>
            <a:pPr algn="l"/>
            <a:r>
              <a:rPr sz="1000" b="0">
                <a:solidFill>
                  <a:srgbClr val="333333"/>
                </a:solidFill>
              </a:rPr>
              <a:t>• Lekhak (Qwen 3, 0.5B, 4-bit GGUF) — NER &amp; structured extraction</a:t>
            </a:r>
          </a:p>
          <a:p>
            <a:pPr algn="l"/>
            <a:r>
              <a:rPr sz="1000" b="0">
                <a:solidFill>
                  <a:srgbClr val="333333"/>
                </a:solidFill>
              </a:rPr>
              <a:t>• Rakshak (Python Rules, WHO/AB) — Clinical triage</a:t>
            </a:r>
          </a:p>
          <a:p>
            <a:pPr algn="l"/>
            <a:r>
              <a:rPr sz="1000" b="0">
                <a:solidFill>
                  <a:srgbClr val="333333"/>
                </a:solidFill>
              </a:rPr>
              <a:t>• Darshak (Qwen 3 VL / Claude 4.5 Vision) — OCR &amp; document understanding</a:t>
            </a:r>
          </a:p>
          <a:p>
            <a:pPr algn="l"/>
            <a:r>
              <a:rPr sz="1000" b="0">
                <a:solidFill>
                  <a:srgbClr val="333333"/>
                </a:solidFill>
              </a:rPr>
              <a:t>• SQLite (50MB/6mo, WAL mode) — Local storage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286000" y="22402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E67E22"/>
                </a:solidFill>
              </a:rPr>
              <a:t>▼  Doot Agent (Background Sync, Exponential Backoff)  ▼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10896" y="265176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5276"/>
                </a:solidFill>
              </a:rPr>
              <a:t>CLOUD LAYER (AWS Mumbai — ap-south-1)</a:t>
            </a:r>
          </a:p>
          <a:p>
            <a:pPr algn="l"/>
            <a:r>
              <a:rPr sz="1000" b="0">
                <a:solidFill>
                  <a:srgbClr val="333333"/>
                </a:solidFill>
              </a:rPr>
              <a:t>• API Gateway + Cognito → Lambda (FastAPI) + Bedrock (Claude 4.5)</a:t>
            </a:r>
          </a:p>
          <a:p>
            <a:pPr algn="l"/>
            <a:r>
              <a:rPr sz="1000" b="0">
                <a:solidFill>
                  <a:srgbClr val="333333"/>
                </a:solidFill>
              </a:rPr>
              <a:t>• DynamoDB + HealthLake (FHIR R4) + S3 (Audio/Imgs)</a:t>
            </a:r>
          </a:p>
          <a:p>
            <a:pPr algn="l"/>
            <a:r>
              <a:rPr sz="1000" b="0">
                <a:solidFill>
                  <a:srgbClr val="333333"/>
                </a:solidFill>
              </a:rPr>
              <a:t>• SNS/SQS (Alerts) + CloudWatch (Monitoring) → ABDM/ABHA Sync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286000" y="37033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E67E22"/>
                </a:solidFill>
              </a:rPr>
              <a:t>▼  Data Aggregation &amp; Analytics  ▼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10896" y="406908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5276"/>
                </a:solidFill>
              </a:rPr>
              <a:t>INTELLIGENCE LAYER</a:t>
            </a:r>
          </a:p>
          <a:p>
            <a:pPr algn="l"/>
            <a:r>
              <a:rPr sz="1000" b="0">
                <a:solidFill>
                  <a:srgbClr val="333333"/>
                </a:solidFill>
              </a:rPr>
              <a:t>• QuickSight — PHC/District Health Dashboards</a:t>
            </a:r>
          </a:p>
          <a:p>
            <a:pPr algn="l"/>
            <a:r>
              <a:rPr sz="1000" b="0">
                <a:solidFill>
                  <a:srgbClr val="333333"/>
                </a:solidFill>
              </a:rPr>
              <a:t>• TimesFM — Outbreak &amp; Resource Forecasting  |  IDSP — Automated Alerts  |  ICMR/WHO Research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20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TextBox 98"/>
          <p:cNvSpPr txBox="1"/>
          <p:nvPr/>
        </p:nvSpPr>
        <p:spPr>
          <a:xfrm>
            <a:off x="310896" y="54864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5276"/>
                </a:solidFill>
              </a:rPr>
              <a:t>Technologies Used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10896" y="1005840"/>
            <a:ext cx="39319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7E22"/>
                </a:solidFill>
              </a:rPr>
              <a:t>Indic AI (Voice &amp; Language)</a:t>
            </a:r>
          </a:p>
          <a:p>
            <a:pPr algn="l"/>
            <a:r>
              <a:rPr sz="1000" b="0">
                <a:solidFill>
                  <a:srgbClr val="333333"/>
                </a:solidFill>
              </a:rPr>
              <a:t>• Sarvam Saaras V3 — ASR, 22 languages</a:t>
            </a:r>
          </a:p>
          <a:p>
            <a:pPr algn="l"/>
            <a:r>
              <a:rPr sz="1000" b="0">
                <a:solidFill>
                  <a:srgbClr val="333333"/>
                </a:solidFill>
              </a:rPr>
              <a:t>• Sarvam Bulbul V3 — TTS, 11 languages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333333"/>
                </a:solidFill>
              </a:rPr>
              <a:t>• Sarvam Samvaad — Conversational agents</a:t>
            </a:r>
          </a:p>
          <a:p>
            <a:pPr algn="l"/>
            <a:r>
              <a:rPr sz="1200" b="1">
                <a:solidFill>
                  <a:srgbClr val="E67E22"/>
                </a:solidFill>
              </a:rPr>
              <a:t>On-Device AI (Edge / Offline)</a:t>
            </a:r>
          </a:p>
          <a:p>
            <a:pPr algn="l"/>
            <a:r>
              <a:rPr sz="1000" b="0">
                <a:solidFill>
                  <a:srgbClr val="333333"/>
                </a:solidFill>
              </a:rPr>
              <a:t>• Qwen 3 0.5B (4-bit GGUF, llama.cpp)</a:t>
            </a:r>
          </a:p>
          <a:p>
            <a:pPr algn="l"/>
            <a:r>
              <a:rPr sz="1000" b="0">
                <a:solidFill>
                  <a:srgbClr val="333333"/>
                </a:solidFill>
              </a:rPr>
              <a:t>• Qwen 3 VL — Vision/OCR on-device</a:t>
            </a:r>
          </a:p>
          <a:p>
            <a:pPr algn="l"/>
            <a:r>
              <a:rPr sz="1000" b="0">
                <a:solidFill>
                  <a:srgbClr val="333333"/>
                </a:solidFill>
              </a:rPr>
              <a:t>• Gemma 3 (quantized) — Fallback model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333333"/>
                </a:solidFill>
              </a:rPr>
              <a:t>• Whisper Tiny — Offline ASR fallback</a:t>
            </a:r>
          </a:p>
          <a:p>
            <a:pPr algn="l"/>
            <a:r>
              <a:rPr sz="1200" b="1">
                <a:solidFill>
                  <a:srgbClr val="E67E22"/>
                </a:solidFill>
              </a:rPr>
              <a:t>Analytics &amp; Forecasting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333333"/>
                </a:solidFill>
              </a:rPr>
              <a:t>• TimesFM (Google, open-source) — Outbreak &amp; resource forecasting</a:t>
            </a:r>
          </a:p>
          <a:p>
            <a:pPr algn="l"/>
            <a:r>
              <a:rPr sz="1200" b="1">
                <a:solidFill>
                  <a:srgbClr val="E67E22"/>
                </a:solidFill>
              </a:rPr>
              <a:t>Frontend &amp; Platform</a:t>
            </a:r>
          </a:p>
          <a:p>
            <a:pPr algn="l"/>
            <a:r>
              <a:rPr sz="1000" b="0">
                <a:solidFill>
                  <a:srgbClr val="333333"/>
                </a:solidFill>
              </a:rPr>
              <a:t>• React Native (Android-first)</a:t>
            </a:r>
          </a:p>
          <a:p>
            <a:pPr algn="l"/>
            <a:r>
              <a:rPr sz="1000" b="0">
                <a:solidFill>
                  <a:srgbClr val="333333"/>
                </a:solidFill>
              </a:rPr>
              <a:t>• Optimized for $80, 2GB RAM phones</a:t>
            </a:r>
          </a:p>
          <a:p>
            <a:pPr algn="l"/>
            <a:r>
              <a:rPr sz="1000" b="0">
                <a:solidFill>
                  <a:srgbClr val="333333"/>
                </a:solidFill>
              </a:rPr>
              <a:t>• Progressive Web App fallback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572000" y="1005840"/>
            <a:ext cx="4206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7E22"/>
                </a:solidFill>
              </a:rPr>
              <a:t>AWS Cloud Services</a:t>
            </a:r>
          </a:p>
          <a:p>
            <a:pPr algn="l"/>
            <a:r>
              <a:rPr sz="1000" b="0">
                <a:solidFill>
                  <a:srgbClr val="333333"/>
                </a:solidFill>
              </a:rPr>
              <a:t>• Amazon Bedrock (Claude 4.5) — Reasoning &amp; vision</a:t>
            </a:r>
          </a:p>
          <a:p>
            <a:pPr algn="l"/>
            <a:r>
              <a:rPr sz="1000" b="0">
                <a:solidFill>
                  <a:srgbClr val="333333"/>
                </a:solidFill>
              </a:rPr>
              <a:t>• AWS Lambda + API Gateway — Serverless</a:t>
            </a:r>
          </a:p>
          <a:p>
            <a:pPr algn="l"/>
            <a:r>
              <a:rPr sz="1000" b="0">
                <a:solidFill>
                  <a:srgbClr val="333333"/>
                </a:solidFill>
              </a:rPr>
              <a:t>• Amazon DynamoDB — Data store</a:t>
            </a:r>
          </a:p>
          <a:p>
            <a:pPr algn="l"/>
            <a:r>
              <a:rPr sz="1000" b="0">
                <a:solidFill>
                  <a:srgbClr val="333333"/>
                </a:solidFill>
              </a:rPr>
              <a:t>• AWS HealthLake — FHIR R4 health data</a:t>
            </a:r>
          </a:p>
          <a:p>
            <a:pPr algn="l"/>
            <a:r>
              <a:rPr sz="1000" b="0">
                <a:solidFill>
                  <a:srgbClr val="333333"/>
                </a:solidFill>
              </a:rPr>
              <a:t>• Amazon S3 — Audio, docs, images</a:t>
            </a:r>
          </a:p>
          <a:p>
            <a:pPr algn="l"/>
            <a:r>
              <a:rPr sz="1000" b="0">
                <a:solidFill>
                  <a:srgbClr val="333333"/>
                </a:solidFill>
              </a:rPr>
              <a:t>• Amazon Cognito — Auth &amp; RBAC</a:t>
            </a:r>
          </a:p>
          <a:p>
            <a:pPr algn="l"/>
            <a:r>
              <a:rPr sz="1000" b="0">
                <a:solidFill>
                  <a:srgbClr val="333333"/>
                </a:solidFill>
              </a:rPr>
              <a:t>• Amazon QuickSight — Dashboards</a:t>
            </a:r>
          </a:p>
          <a:p>
            <a:pPr algn="l"/>
            <a:r>
              <a:rPr sz="1000" b="0">
                <a:solidFill>
                  <a:srgbClr val="333333"/>
                </a:solidFill>
              </a:rPr>
              <a:t>• Amazon SNS/SQS — Alerts &amp; async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333333"/>
                </a:solidFill>
              </a:rPr>
              <a:t>• Amazon CloudWatch — Monitoring</a:t>
            </a:r>
          </a:p>
          <a:p>
            <a:pPr algn="l"/>
            <a:r>
              <a:rPr sz="1200" b="1">
                <a:solidFill>
                  <a:srgbClr val="E67E22"/>
                </a:solidFill>
              </a:rPr>
              <a:t>Clinical Rules &amp; Safety</a:t>
            </a:r>
          </a:p>
          <a:p>
            <a:pPr algn="l"/>
            <a:r>
              <a:rPr sz="1000" b="0">
                <a:solidFill>
                  <a:srgbClr val="333333"/>
                </a:solidFill>
              </a:rPr>
              <a:t>• Deterministic WHO/AB guidelines</a:t>
            </a:r>
          </a:p>
          <a:p>
            <a:pPr algn="l"/>
            <a:r>
              <a:rPr sz="1000" b="0">
                <a:solidFill>
                  <a:srgbClr val="333333"/>
                </a:solidFill>
              </a:rPr>
              <a:t>• JSON config, versioned rules</a:t>
            </a:r>
          </a:p>
          <a:p>
            <a:pPr algn="l"/>
            <a:r>
              <a:rPr sz="1000" b="0">
                <a:solidFill>
                  <a:srgbClr val="333333"/>
                </a:solidFill>
              </a:rPr>
              <a:t>• Weekly OTA updates from cloud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21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TextBox 104"/>
          <p:cNvSpPr txBox="1"/>
          <p:nvPr/>
        </p:nvSpPr>
        <p:spPr>
          <a:xfrm>
            <a:off x="310896" y="54864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5276"/>
                </a:solidFill>
              </a:rPr>
              <a:t>Estimated Implementation Cost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10896" y="1005840"/>
            <a:ext cx="8229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67E22"/>
                </a:solidFill>
              </a:rPr>
              <a:t>Hackathon POC (This Submission)</a:t>
            </a:r>
          </a:p>
          <a:p>
            <a:pPr algn="l"/>
            <a:r>
              <a:rPr sz="1100" b="0">
                <a:solidFill>
                  <a:srgbClr val="333333"/>
                </a:solidFill>
              </a:rPr>
              <a:t>• AWS Free Tier + Bedrock pay-per-use + Sarvam trial API</a:t>
            </a:r>
          </a:p>
          <a:p>
            <a:pPr algn="l">
              <a:spcAft>
                <a:spcPts val="1000"/>
              </a:spcAft>
            </a:pPr>
            <a:r>
              <a:rPr sz="1100" b="1">
                <a:solidFill>
                  <a:srgbClr val="27AE60"/>
                </a:solidFill>
              </a:rPr>
              <a:t>• Total estimated cost: &lt; $10</a:t>
            </a:r>
          </a:p>
          <a:p>
            <a:pPr algn="l"/>
            <a:r>
              <a:rPr sz="1300" b="1">
                <a:solidFill>
                  <a:srgbClr val="E67E22"/>
                </a:solidFill>
              </a:rPr>
              <a:t>Pilot Phase (100 ASHAs, 1 District, 3 months)</a:t>
            </a:r>
          </a:p>
          <a:p>
            <a:pPr algn="l"/>
            <a:r>
              <a:rPr sz="1100" b="0">
                <a:solidFill>
                  <a:srgbClr val="333333"/>
                </a:solidFill>
              </a:rPr>
              <a:t>• Lambda + API Gateway: $20/mo  |  DynamoDB: $50/mo  |  S3 + CloudWatch: $30/mo</a:t>
            </a:r>
          </a:p>
          <a:p>
            <a:pPr algn="l"/>
            <a:r>
              <a:rPr sz="1100" b="0">
                <a:solidFill>
                  <a:srgbClr val="333333"/>
                </a:solidFill>
              </a:rPr>
              <a:t>• Bedrock (Claude 4.5): $100–500/mo  |  Sarvam AI API: $50–200/mo</a:t>
            </a:r>
          </a:p>
          <a:p>
            <a:pPr algn="l">
              <a:spcAft>
                <a:spcPts val="1000"/>
              </a:spcAft>
            </a:pPr>
            <a:r>
              <a:rPr sz="1200" b="1">
                <a:solidFill>
                  <a:srgbClr val="27AE60"/>
                </a:solidFill>
              </a:rPr>
              <a:t>• Total: $250 – $800 / month</a:t>
            </a:r>
          </a:p>
          <a:p>
            <a:pPr algn="l"/>
            <a:r>
              <a:rPr sz="1300" b="1">
                <a:solidFill>
                  <a:srgbClr val="E67E22"/>
                </a:solidFill>
              </a:rPr>
              <a:t>National Scale (1M ASHAs)</a:t>
            </a:r>
          </a:p>
          <a:p>
            <a:pPr algn="l">
              <a:spcAft>
                <a:spcPts val="1000"/>
              </a:spcAft>
            </a:pPr>
            <a:r>
              <a:rPr sz="1100" b="0">
                <a:solidFill>
                  <a:srgbClr val="333333"/>
                </a:solidFill>
              </a:rPr>
              <a:t>• Total: $10,000–$30,000/month  |  Per-ASHA cost: $0.01–$0.03/month</a:t>
            </a:r>
          </a:p>
          <a:p>
            <a:pPr algn="l"/>
            <a:r>
              <a:rPr sz="1300" b="1">
                <a:solidFill>
                  <a:srgbClr val="1A5276"/>
                </a:solidFill>
              </a:rPr>
              <a:t>Key Cost Advantage</a:t>
            </a:r>
          </a:p>
          <a:p>
            <a:pPr algn="l"/>
            <a:r>
              <a:rPr sz="1100" b="0">
                <a:solidFill>
                  <a:srgbClr val="333333"/>
                </a:solidFill>
              </a:rPr>
              <a:t>• 90%+ of operations happen on-device at scale → minimal cloud costs</a:t>
            </a:r>
          </a:p>
          <a:p>
            <a:pPr algn="l"/>
            <a:r>
              <a:rPr sz="1100" b="0">
                <a:solidFill>
                  <a:srgbClr val="333333"/>
                </a:solidFill>
              </a:rPr>
              <a:t>• On-device AI (Qwen 3, Whisper, Rakshak rules) = $0 per use</a:t>
            </a:r>
          </a:p>
          <a:p>
            <a:pPr algn="l"/>
            <a:r>
              <a:rPr sz="1100" b="0">
                <a:solidFill>
                  <a:srgbClr val="333333"/>
                </a:solidFill>
              </a:rPr>
              <a:t>• Cloud only used for sync, complex cases, and analytics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2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TextBox 110"/>
          <p:cNvSpPr txBox="1"/>
          <p:nvPr/>
        </p:nvSpPr>
        <p:spPr>
          <a:xfrm>
            <a:off x="310896" y="54864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5276"/>
                </a:solidFill>
              </a:rPr>
              <a:t>Impact, National Alignment &amp; Pilot Plan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10896" y="1005840"/>
            <a:ext cx="39319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7E22"/>
                </a:solidFill>
              </a:rPr>
              <a:t>Quantified Impact</a:t>
            </a:r>
          </a:p>
          <a:p>
            <a:pPr algn="l"/>
            <a:r>
              <a:rPr sz="1000" b="0">
                <a:solidFill>
                  <a:srgbClr val="333333"/>
                </a:solidFill>
              </a:rPr>
              <a:t>• Form fill time: 7 min → 45 seconds</a:t>
            </a:r>
          </a:p>
          <a:p>
            <a:pPr algn="l"/>
            <a:r>
              <a:rPr sz="1000" b="0">
                <a:solidFill>
                  <a:srgbClr val="333333"/>
                </a:solidFill>
              </a:rPr>
              <a:t>• Daily data entry: 4 hrs → &lt;30 min</a:t>
            </a:r>
          </a:p>
          <a:p>
            <a:pPr algn="l"/>
            <a:r>
              <a:rPr sz="1000" b="0">
                <a:solidFill>
                  <a:srgbClr val="333333"/>
                </a:solidFill>
              </a:rPr>
              <a:t>• Data error rate: &gt;20% → &lt;5%</a:t>
            </a:r>
          </a:p>
          <a:p>
            <a:pPr algn="l"/>
            <a:r>
              <a:rPr sz="1000" b="0">
                <a:solidFill>
                  <a:srgbClr val="333333"/>
                </a:solidFill>
              </a:rPr>
              <a:t>• Claim rejections: 15% → &lt;5%</a:t>
            </a:r>
          </a:p>
          <a:p>
            <a:pPr algn="l"/>
            <a:r>
              <a:rPr sz="1000" b="0">
                <a:solidFill>
                  <a:srgbClr val="333333"/>
                </a:solidFill>
              </a:rPr>
              <a:t>• Outbreak detection: weeks → &lt;24 hrs</a:t>
            </a:r>
          </a:p>
          <a:p>
            <a:pPr algn="l">
              <a:spcAft>
                <a:spcPts val="600"/>
              </a:spcAft>
            </a:pPr>
            <a:r>
              <a:rPr sz="1000" b="1">
                <a:solidFill>
                  <a:srgbClr val="27AE60"/>
                </a:solidFill>
              </a:rPr>
              <a:t>• 3M healthcare hours returned daily</a:t>
            </a:r>
          </a:p>
          <a:p>
            <a:pPr algn="l"/>
            <a:r>
              <a:rPr sz="1200" b="1">
                <a:solidFill>
                  <a:srgbClr val="E67E22"/>
                </a:solidFill>
              </a:rPr>
              <a:t>Pilot Plan</a:t>
            </a:r>
          </a:p>
          <a:p>
            <a:pPr algn="l"/>
            <a:r>
              <a:rPr sz="1000" b="0">
                <a:solidFill>
                  <a:srgbClr val="333333"/>
                </a:solidFill>
              </a:rPr>
              <a:t>• Phase 1: 10→100 ASHAs, 1 district (3 mo)</a:t>
            </a:r>
          </a:p>
          <a:p>
            <a:pPr algn="l"/>
            <a:r>
              <a:rPr sz="1000" b="0">
                <a:solidFill>
                  <a:srgbClr val="333333"/>
                </a:solidFill>
              </a:rPr>
              <a:t>• Phase 2: 10,000 ASHAs, 5 states (9 mo)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333333"/>
                </a:solidFill>
              </a:rPr>
              <a:t>• Phase 3: 1M ASHAs nationwide (18 mo)</a:t>
            </a:r>
          </a:p>
          <a:p>
            <a:pPr algn="l"/>
            <a:r>
              <a:rPr sz="1200" b="1">
                <a:solidFill>
                  <a:srgbClr val="E67E22"/>
                </a:solidFill>
              </a:rPr>
              <a:t>Success Criteria (SMART)</a:t>
            </a:r>
          </a:p>
          <a:p>
            <a:pPr algn="l"/>
            <a:r>
              <a:rPr sz="1000" b="0">
                <a:solidFill>
                  <a:srgbClr val="333333"/>
                </a:solidFill>
              </a:rPr>
              <a:t>• &gt;80% ASHA adoption (3+ days/week)</a:t>
            </a:r>
          </a:p>
          <a:p>
            <a:pPr algn="l"/>
            <a:r>
              <a:rPr sz="1000" b="0">
                <a:solidFill>
                  <a:srgbClr val="333333"/>
                </a:solidFill>
              </a:rPr>
              <a:t>• &gt;50% data entry time reduction</a:t>
            </a:r>
          </a:p>
          <a:p>
            <a:pPr algn="l"/>
            <a:r>
              <a:rPr sz="1000" b="0">
                <a:solidFill>
                  <a:srgbClr val="333333"/>
                </a:solidFill>
              </a:rPr>
              <a:t>• +30% high-risk referral increase</a:t>
            </a:r>
          </a:p>
          <a:p>
            <a:pPr algn="l"/>
            <a:r>
              <a:rPr sz="1000" b="0">
                <a:solidFill>
                  <a:srgbClr val="333333"/>
                </a:solidFill>
              </a:rPr>
              <a:t>• NPS &gt; 40 from ASHA users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572000" y="1005840"/>
            <a:ext cx="4206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7E22"/>
                </a:solidFill>
              </a:rPr>
              <a:t>National Mission Alignment</a:t>
            </a:r>
          </a:p>
          <a:p>
            <a:pPr algn="l"/>
            <a:r>
              <a:rPr sz="1000" b="0">
                <a:solidFill>
                  <a:srgbClr val="333333"/>
                </a:solidFill>
              </a:rPr>
              <a:t>• Ayushman Bharat Digital Mission — FHIR records + ABHA ID integration</a:t>
            </a:r>
          </a:p>
          <a:p>
            <a:pPr algn="l"/>
            <a:r>
              <a:rPr sz="1000" b="0">
                <a:solidFill>
                  <a:srgbClr val="333333"/>
                </a:solidFill>
              </a:rPr>
              <a:t>• National Health Mission — Directly empowers 1M ASHAs</a:t>
            </a:r>
          </a:p>
          <a:p>
            <a:pPr algn="l"/>
            <a:r>
              <a:rPr sz="1000" b="0">
                <a:solidFill>
                  <a:srgbClr val="333333"/>
                </a:solidFill>
              </a:rPr>
              <a:t>• IDSP Disease Surveillance — Automated real-time reporting</a:t>
            </a:r>
          </a:p>
          <a:p>
            <a:pPr algn="l"/>
            <a:r>
              <a:rPr sz="1000" b="0">
                <a:solidFill>
                  <a:srgbClr val="333333"/>
                </a:solidFill>
              </a:rPr>
              <a:t>• POSHAN Abhiyaan — Malnutrition tracking, NRC referrals</a:t>
            </a:r>
          </a:p>
          <a:p>
            <a:pPr algn="l"/>
            <a:r>
              <a:rPr sz="1000" b="0">
                <a:solidFill>
                  <a:srgbClr val="333333"/>
                </a:solidFill>
              </a:rPr>
              <a:t>• Mission Indradhanush — Vaccination tracking &amp; reminders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333333"/>
                </a:solidFill>
              </a:rPr>
              <a:t>• India AI Mission — Sovereign Indic AI, on-device inference</a:t>
            </a:r>
          </a:p>
          <a:p>
            <a:pPr algn="l"/>
            <a:r>
              <a:rPr sz="1200" b="1">
                <a:solidFill>
                  <a:srgbClr val="E67E22"/>
                </a:solidFill>
              </a:rPr>
              <a:t>Health Outcome Targets</a:t>
            </a:r>
          </a:p>
          <a:p>
            <a:pPr algn="l"/>
            <a:r>
              <a:rPr sz="1000" b="0">
                <a:solidFill>
                  <a:srgbClr val="333333"/>
                </a:solidFill>
              </a:rPr>
              <a:t>• Earlier high-risk pregnancy detection</a:t>
            </a:r>
          </a:p>
          <a:p>
            <a:pPr algn="l"/>
            <a:r>
              <a:rPr sz="1000" b="0">
                <a:solidFill>
                  <a:srgbClr val="333333"/>
                </a:solidFill>
              </a:rPr>
              <a:t>• Faster SAM identification (under-5s)</a:t>
            </a:r>
          </a:p>
          <a:p>
            <a:pPr algn="l"/>
            <a:r>
              <a:rPr sz="1000" b="0">
                <a:solidFill>
                  <a:srgbClr val="333333"/>
                </a:solidFill>
              </a:rPr>
              <a:t>• Improved NCD screening coverage</a:t>
            </a:r>
          </a:p>
          <a:p>
            <a:pPr algn="l"/>
            <a:r>
              <a:rPr sz="1000" b="0">
                <a:solidFill>
                  <a:srgbClr val="333333"/>
                </a:solidFill>
              </a:rPr>
              <a:t>• Higher vaccination completeness</a:t>
            </a:r>
          </a:p>
          <a:p>
            <a:pPr algn="l"/>
            <a:r>
              <a:rPr sz="1000" b="0">
                <a:solidFill>
                  <a:srgbClr val="333333"/>
                </a:solidFill>
              </a:rPr>
              <a:t>• Faster disease outbreak response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3" title="AI for Bharddat BANNER – 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TextBox 116"/>
          <p:cNvSpPr txBox="1"/>
          <p:nvPr/>
        </p:nvSpPr>
        <p:spPr>
          <a:xfrm>
            <a:off x="1185614" y="3471619"/>
            <a:ext cx="6881247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dirty="0" err="1">
                <a:solidFill>
                  <a:srgbClr val="FFFFFF"/>
                </a:solidFill>
              </a:rPr>
              <a:t>SarvaSukh</a:t>
            </a:r>
            <a:r>
              <a:rPr sz="1400" b="1" dirty="0">
                <a:solidFill>
                  <a:srgbClr val="FFFFFF"/>
                </a:solidFill>
              </a:rPr>
              <a:t> AI — India's Voice-First AI Health Platform</a:t>
            </a:r>
          </a:p>
          <a:p>
            <a:pPr algn="ctr">
              <a:spcAft>
                <a:spcPts val="300"/>
              </a:spcAft>
            </a:pPr>
            <a:r>
              <a:rPr sz="900" b="0" dirty="0">
                <a:solidFill>
                  <a:schemeClr val="bg1"/>
                </a:solidFill>
              </a:rPr>
              <a:t>Team: Govind Mittal  |  Track: AI for Healthcare &amp; Life Sciences</a:t>
            </a:r>
          </a:p>
          <a:p>
            <a:pPr algn="ctr"/>
            <a:r>
              <a:rPr sz="800" b="1" dirty="0">
                <a:solidFill>
                  <a:schemeClr val="bg1"/>
                </a:solidFill>
              </a:rPr>
              <a:t>"Returning 3 million healthcare hours to rural India, every single day."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1672</Words>
  <Application>Microsoft Macintosh PowerPoint</Application>
  <PresentationFormat>On-screen Show (16:9)</PresentationFormat>
  <Paragraphs>195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3" baseType="lpstr">
      <vt:lpstr>Arial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Microsoft Office User</cp:lastModifiedBy>
  <cp:revision>1</cp:revision>
  <dcterms:modified xsi:type="dcterms:W3CDTF">2026-02-15T16:49:47Z</dcterms:modified>
</cp:coreProperties>
</file>